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embeddedFontLst>
    <p:embeddedFont>
      <p:font typeface="Big Shoulders ExtraBold" pitchFamily="2" charset="77"/>
      <p:regular r:id="rId12"/>
      <p:bold r:id="rId13"/>
    </p:embeddedFont>
    <p:embeddedFont>
      <p:font typeface="Red Hat Mono Medium" panose="02010509040201060303" pitchFamily="49" charset="0"/>
      <p:regular r:id="rId14"/>
    </p:embeddedFont>
    <p:embeddedFont>
      <p:font typeface="Schibsted Grotesk" pitchFamily="2" charset="77"/>
      <p:regular r:id="rId15"/>
    </p:embeddedFont>
    <p:embeddedFont>
      <p:font typeface="Schibsted Grotesk Bold" pitchFamily="2" charset="77"/>
      <p:regular r:id="rId16"/>
      <p:bold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094"/>
    <p:restoredTop sz="94610"/>
  </p:normalViewPr>
  <p:slideViewPr>
    <p:cSldViewPr snapToGrid="0" snapToObjects="1">
      <p:cViewPr>
        <p:scale>
          <a:sx n="105" d="100"/>
          <a:sy n="105" d="100"/>
        </p:scale>
        <p:origin x="864" y="1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0634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as a comparison between coffee land, yield, and price across the upstream part of the coffee trade.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flow to orient the audience: the project follows coffee from production and export through trade movement to roasting, retail, and the final cup, while the analysis stays upstream.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 combines a long historical range with broad country coverage and separate production and trade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filter is deliberately strict. Verified values stay; estimated or unverified values are ignored; the processed dataset is reduced to two usable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ERD as the traceability layer behind the analysis. The image is the supplied coffee database diagram; do not infer entities or relationships beyond what it shows.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7E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A91207F0-5EAE-56FE-9382-8E01FAFE23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111822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608606" y="1248736"/>
            <a:ext cx="3868692" cy="212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chemeClr val="bg2">
                    <a:lumMod val="5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WEEK 3 · PROJECT 1</a:t>
            </a:r>
            <a:endParaRPr lang="en-US" sz="12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608911" y="3925202"/>
            <a:ext cx="4552403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75000"/>
              </a:lnSpc>
              <a:buNone/>
            </a:pPr>
            <a:r>
              <a:rPr lang="en-US" sz="3200" kern="0" spc="28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COFFEE LAND vs PRICE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608606" y="4314632"/>
            <a:ext cx="4552403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chemeClr val="bg2">
                    <a:lumMod val="2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</a:t>
            </a:r>
          </a:p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chemeClr val="bg2">
                    <a:lumMod val="2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BY RIZKI FIRDAUS</a:t>
            </a:r>
            <a:endParaRPr lang="en-US" sz="125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8987A50-118D-F66B-6E0C-3633E80A8DA1}"/>
              </a:ext>
            </a:extLst>
          </p:cNvPr>
          <p:cNvSpPr/>
          <p:nvPr/>
        </p:nvSpPr>
        <p:spPr>
          <a:xfrm>
            <a:off x="7608299" y="6118225"/>
            <a:ext cx="4583089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8000"/>
              </a:lnSpc>
            </a:pPr>
            <a:r>
              <a:rPr lang="en-US" sz="1250" kern="0" spc="50" dirty="0">
                <a:solidFill>
                  <a:schemeClr val="bg2">
                    <a:lumMod val="5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125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>
            <a:extLst>
              <a:ext uri="{FF2B5EF4-FFF2-40B4-BE49-F238E27FC236}">
                <a16:creationId xmlns:a16="http://schemas.microsoft.com/office/drawing/2014/main" id="{42166F31-517E-8A5A-4418-346CAC5217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195836" y="1636145"/>
            <a:ext cx="494135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THE COFFEE CHAIN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95836" y="1967535"/>
            <a:ext cx="4900164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FROM FARM TO CUP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540396" y="2628696"/>
            <a:ext cx="523227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What drives coffee’s export price?</a:t>
            </a:r>
            <a:endParaRPr lang="en-US" sz="1600" b="1" dirty="0"/>
          </a:p>
        </p:txBody>
      </p:sp>
      <p:sp>
        <p:nvSpPr>
          <p:cNvPr id="6" name="Text 4"/>
          <p:cNvSpPr/>
          <p:nvPr/>
        </p:nvSpPr>
        <p:spPr>
          <a:xfrm>
            <a:off x="6540396" y="3097305"/>
            <a:ext cx="5232270" cy="1510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 bigger, more efficient growers sell cheaper?</a:t>
            </a:r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endParaRPr lang="en-US" sz="1600" dirty="0"/>
          </a:p>
          <a:p>
            <a:pPr marL="325120" indent="-325120" algn="l">
              <a:lnSpc>
                <a:spcPct val="117000"/>
              </a:lnSpc>
              <a:buSzPct val="100000"/>
              <a:buChar char="•"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Do buyers pay more than sellers actually get?</a:t>
            </a:r>
            <a:endParaRPr lang="en-US" sz="1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60654" y="2521180"/>
            <a:ext cx="5376536" cy="3262751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01922FD-F930-9744-3A0F-1B166E06CB67}"/>
              </a:ext>
            </a:extLst>
          </p:cNvPr>
          <p:cNvCxnSpPr>
            <a:cxnSpLocks/>
          </p:cNvCxnSpPr>
          <p:nvPr/>
        </p:nvCxnSpPr>
        <p:spPr>
          <a:xfrm>
            <a:off x="6304934" y="2628696"/>
            <a:ext cx="0" cy="3302119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347E115-E892-73C4-C9E0-5825B4BF8C12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DBE16E-FAF5-3080-B9D3-D3C0F65D009D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6EDD97-416F-C441-255E-7EC5A90F99A0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4E77790-D2E3-4879-5A2A-2611D2E54E91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>
            <a:extLst>
              <a:ext uri="{FF2B5EF4-FFF2-40B4-BE49-F238E27FC236}">
                <a16:creationId xmlns:a16="http://schemas.microsoft.com/office/drawing/2014/main" id="{F6717B5C-FFF1-9557-5951-D91025CFE7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8DA71CD-FE86-88C5-09C7-B70781B849BE}"/>
              </a:ext>
            </a:extLst>
          </p:cNvPr>
          <p:cNvSpPr/>
          <p:nvPr/>
        </p:nvSpPr>
        <p:spPr>
          <a:xfrm>
            <a:off x="3158080" y="2405448"/>
            <a:ext cx="4482082" cy="34841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897886" y="1524518"/>
            <a:ext cx="9514718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111111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THREE OFFICIAL RECORDS :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97886" y="1889628"/>
            <a:ext cx="10244969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000" dirty="0">
                <a:solidFill>
                  <a:srgbClr val="111111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GREEN COFFEE PRODUCTION, PROCESSED GREEN BEANS, AND TRADE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99072" y="2405449"/>
            <a:ext cx="2359008" cy="3484176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71118" y="0"/>
                </a:moveTo>
                <a:lnTo>
                  <a:pt x="3657509" y="0"/>
                </a:lnTo>
                <a:lnTo>
                  <a:pt x="3657509" y="4411464"/>
                </a:lnTo>
                <a:lnTo>
                  <a:pt x="71118" y="4411464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73893" y="3230721"/>
            <a:ext cx="1059614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64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85186" y="4238585"/>
            <a:ext cx="1389600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years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1961–2024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908740" y="323072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203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908740" y="4238585"/>
            <a:ext cx="3149521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countries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represented in the coffee chain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633651" y="2405448"/>
            <a:ext cx="3657509" cy="3484176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0" y="0"/>
                </a:moveTo>
                <a:lnTo>
                  <a:pt x="3586390" y="0"/>
                </a:lnTo>
                <a:arcTo wR="71118" hR="71120" stAng="16200000" swAng="5400000"/>
                <a:lnTo>
                  <a:pt x="3657509" y="4340344"/>
                </a:lnTo>
                <a:arcTo wR="71118" hR="71120" stAng="0" swAng="5400000"/>
                <a:lnTo>
                  <a:pt x="0" y="4411464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141639" y="3230721"/>
            <a:ext cx="3149521" cy="804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3000"/>
              </a:lnSpc>
              <a:buNone/>
            </a:pPr>
            <a:r>
              <a:rPr lang="en-US" sz="7200" kern="0" spc="72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41,179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8141639" y="4238585"/>
            <a:ext cx="3149521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official values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8,082 production rows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33,097 trade rows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99072" y="5943170"/>
            <a:ext cx="10651519" cy="187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50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SOURCE: FAOSTAT ANALYTICAL DATA.</a:t>
            </a:r>
            <a:endParaRPr lang="en-US" sz="1250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882A1BC-5308-6D87-F2E4-F5ABA53A0570}"/>
              </a:ext>
            </a:extLst>
          </p:cNvPr>
          <p:cNvCxnSpPr>
            <a:cxnSpLocks/>
          </p:cNvCxnSpPr>
          <p:nvPr/>
        </p:nvCxnSpPr>
        <p:spPr>
          <a:xfrm>
            <a:off x="3158080" y="2405449"/>
            <a:ext cx="0" cy="34841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83E9D21-837C-EE4C-12F6-FB31C7E40601}"/>
              </a:ext>
            </a:extLst>
          </p:cNvPr>
          <p:cNvCxnSpPr>
            <a:cxnSpLocks/>
          </p:cNvCxnSpPr>
          <p:nvPr/>
        </p:nvCxnSpPr>
        <p:spPr>
          <a:xfrm>
            <a:off x="7633651" y="2405449"/>
            <a:ext cx="0" cy="349404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006C2171-39BE-389A-4472-1C41E4D72E46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59F53A0-0D18-6DDE-484A-E2B96E5FD7CB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6BC385-605E-AF78-D02A-7273F3801F69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D73245-D46A-C29A-0000-F50E2CA0CA39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2">
            <a:extLst>
              <a:ext uri="{FF2B5EF4-FFF2-40B4-BE49-F238E27FC236}">
                <a16:creationId xmlns:a16="http://schemas.microsoft.com/office/drawing/2014/main" id="{C0B9C4CF-22DF-DFFE-C5D0-07E0C1DA0CD8}"/>
              </a:ext>
            </a:extLst>
          </p:cNvPr>
          <p:cNvSpPr/>
          <p:nvPr/>
        </p:nvSpPr>
        <p:spPr>
          <a:xfrm>
            <a:off x="609585" y="2360471"/>
            <a:ext cx="3567671" cy="3187453"/>
          </a:xfrm>
          <a:custGeom>
            <a:avLst/>
            <a:gdLst/>
            <a:ahLst/>
            <a:cxnLst/>
            <a:rect l="l" t="t" r="r" b="b"/>
            <a:pathLst>
              <a:path w="3657509" h="4411464">
                <a:moveTo>
                  <a:pt x="71118" y="0"/>
                </a:moveTo>
                <a:lnTo>
                  <a:pt x="3657509" y="0"/>
                </a:lnTo>
                <a:lnTo>
                  <a:pt x="3657509" y="4411464"/>
                </a:lnTo>
                <a:lnTo>
                  <a:pt x="71118" y="4411464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609585" y="1463100"/>
            <a:ext cx="10895596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111111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 DOWNLOAD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9585" y="1828210"/>
            <a:ext cx="10972526" cy="410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3400" dirty="0">
                <a:solidFill>
                  <a:srgbClr val="111111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DATA QUALITY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87847" y="2360472"/>
            <a:ext cx="3844045" cy="3187452"/>
          </a:xfrm>
          <a:custGeom>
            <a:avLst/>
            <a:gdLst/>
            <a:ahLst/>
            <a:cxnLst/>
            <a:rect l="l" t="t" r="r" b="b"/>
            <a:pathLst>
              <a:path w="3657509" h="4358779">
                <a:moveTo>
                  <a:pt x="71118" y="0"/>
                </a:moveTo>
                <a:lnTo>
                  <a:pt x="3657509" y="0"/>
                </a:lnTo>
                <a:lnTo>
                  <a:pt x="3657509" y="4358779"/>
                </a:lnTo>
                <a:lnTo>
                  <a:pt x="71118" y="4358779"/>
                </a:lnTo>
                <a:arcTo wR="71118" hR="71120" stAng="5400000" swAng="5400000"/>
                <a:lnTo>
                  <a:pt x="0" y="71120"/>
                </a:lnTo>
                <a:arcTo wR="71118" hR="71120" stAng="10800000" swAng="5400000"/>
                <a:close/>
              </a:path>
            </a:pathLst>
          </a:cu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464108" y="2596451"/>
            <a:ext cx="659788" cy="316805"/>
          </a:xfrm>
          <a:prstGeom prst="roundRect">
            <a:avLst>
              <a:gd name="adj" fmla="val 21551"/>
            </a:avLst>
          </a:prstGeom>
          <a:noFill/>
          <a:ln w="3175">
            <a:solidFill>
              <a:srgbClr val="C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85945" y="2657371"/>
            <a:ext cx="455612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C0000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KEEP</a:t>
            </a:r>
            <a:endParaRPr lang="en-US" sz="1300" dirty="0">
              <a:solidFill>
                <a:srgbClr val="C0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4464108" y="2995806"/>
            <a:ext cx="309872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Officially verified values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464108" y="3781817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Inputs that remain comparable across the analysis.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599" y="2597602"/>
            <a:ext cx="867845" cy="316805"/>
          </a:xfrm>
          <a:prstGeom prst="roundRect">
            <a:avLst>
              <a:gd name="adj" fmla="val 21551"/>
            </a:avLst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8437" y="2658522"/>
            <a:ext cx="1233754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chemeClr val="tx1">
                    <a:lumMod val="50000"/>
                    <a:lumOff val="5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IGNORE</a:t>
            </a:r>
            <a:endParaRPr lang="en-US" sz="13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806599" y="2996957"/>
            <a:ext cx="3098722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20202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Estimated or unverified values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806599" y="3782968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Inputs that do not meet the verification rule.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847672" y="2360472"/>
            <a:ext cx="3657509" cy="3187452"/>
          </a:xfrm>
          <a:custGeom>
            <a:avLst/>
            <a:gdLst/>
            <a:ahLst/>
            <a:cxnLst/>
            <a:rect l="l" t="t" r="r" b="b"/>
            <a:pathLst>
              <a:path w="3657509" h="4358779">
                <a:moveTo>
                  <a:pt x="0" y="0"/>
                </a:moveTo>
                <a:lnTo>
                  <a:pt x="3586390" y="0"/>
                </a:lnTo>
                <a:arcTo wR="71118" hR="71120" stAng="16200000" swAng="5400000"/>
                <a:lnTo>
                  <a:pt x="3657509" y="4287659"/>
                </a:lnTo>
                <a:arcTo wR="71118" hR="71120" stAng="0" swAng="5400000"/>
                <a:lnTo>
                  <a:pt x="0" y="4358779"/>
                </a:lnTo>
                <a:lnTo>
                  <a:pt x="0" y="0"/>
                </a:lnTo>
                <a:close/>
              </a:path>
            </a:pathLst>
          </a:custGeom>
          <a:solidFill>
            <a:srgbClr val="7B2F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121617" y="2596451"/>
            <a:ext cx="871424" cy="316805"/>
          </a:xfrm>
          <a:prstGeom prst="roundRect">
            <a:avLst>
              <a:gd name="adj" fmla="val 21551"/>
            </a:avLst>
          </a:prstGeom>
          <a:noFill/>
          <a:ln w="12700">
            <a:solidFill>
              <a:srgbClr val="FFFF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243454" y="2657371"/>
            <a:ext cx="1025698" cy="1949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kern="0" spc="51" dirty="0">
                <a:solidFill>
                  <a:srgbClr val="FFFF0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RESULT</a:t>
            </a:r>
            <a:endParaRPr lang="en-US" sz="1300" dirty="0">
              <a:solidFill>
                <a:srgbClr val="FFFF00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8121617" y="2995806"/>
            <a:ext cx="3098722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Processed dataset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121617" y="3781817"/>
            <a:ext cx="309872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Two usable data frame inputs remained after filtering.</a:t>
            </a:r>
            <a:endParaRPr lang="en-US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B8E18EC-A363-3590-0C67-64ED7F682061}"/>
              </a:ext>
            </a:extLst>
          </p:cNvPr>
          <p:cNvCxnSpPr>
            <a:cxnSpLocks/>
          </p:cNvCxnSpPr>
          <p:nvPr/>
        </p:nvCxnSpPr>
        <p:spPr>
          <a:xfrm flipH="1">
            <a:off x="4179572" y="2360472"/>
            <a:ext cx="6709" cy="318745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7158AA5-DD35-98ED-E020-9A632EC9D270}"/>
              </a:ext>
            </a:extLst>
          </p:cNvPr>
          <p:cNvCxnSpPr>
            <a:cxnSpLocks/>
          </p:cNvCxnSpPr>
          <p:nvPr/>
        </p:nvCxnSpPr>
        <p:spPr>
          <a:xfrm>
            <a:off x="7845356" y="2360472"/>
            <a:ext cx="0" cy="318745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1678E8B5-58DD-A3AB-F744-D7E8E832F426}"/>
              </a:ext>
            </a:extLst>
          </p:cNvPr>
          <p:cNvSpPr/>
          <p:nvPr/>
        </p:nvSpPr>
        <p:spPr>
          <a:xfrm>
            <a:off x="0" y="6415469"/>
            <a:ext cx="12192000" cy="4425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C907A9-2897-5A50-4AE6-31FC841C91BB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2B92BA-3E82-A1D0-D806-15FE92EC9F65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CB2259-3388-FE48-70E4-980D83E73A06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6948CC-0DE7-9EB5-9DA2-69CE67650566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4"/>
          <p:cNvSpPr/>
          <p:nvPr/>
        </p:nvSpPr>
        <p:spPr>
          <a:xfrm>
            <a:off x="-305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377" y="1668520"/>
            <a:ext cx="4909774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1200" kern="0" spc="48" dirty="0">
                <a:solidFill>
                  <a:srgbClr val="202020"/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377" y="1949111"/>
            <a:ext cx="5181623" cy="8203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400" dirty="0">
                <a:solidFill>
                  <a:srgbClr val="20202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HOW THE COFFEE DATA CONNECTS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607" y="2643502"/>
            <a:ext cx="5283068" cy="2075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Reference tables hold countries, measurements, and data-quality flags.</a:t>
            </a:r>
            <a:endParaRPr lang="en-US" sz="1600" dirty="0"/>
          </a:p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Record tables hold production and import/export price observations.</a:t>
            </a:r>
            <a:endParaRPr lang="en-US" sz="16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600" dirty="0">
                <a:solidFill>
                  <a:srgbClr val="20202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Linked keys connect each observation to its country, year, measurement, and source.</a:t>
            </a:r>
            <a:endParaRPr lang="en-US" sz="1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14005"/>
          <a:stretch>
            <a:fillRect/>
          </a:stretch>
        </p:blipFill>
        <p:spPr>
          <a:xfrm>
            <a:off x="6545325" y="2043702"/>
            <a:ext cx="4940176" cy="31968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197445" y="5187708"/>
            <a:ext cx="5689458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1000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ENTITY RELATIONAL DIAGRAM (ERD)</a:t>
            </a:r>
          </a:p>
          <a:p>
            <a:pPr marL="0" indent="0" algn="ctr">
              <a:lnSpc>
                <a:spcPct val="108000"/>
              </a:lnSpc>
              <a:buNone/>
            </a:pPr>
            <a:r>
              <a:rPr lang="en-US" sz="1000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SOURCE: SUPPLIED POWERPOINT CONTENT</a:t>
            </a: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5C8A529-9827-DF22-2D59-153FFDF62814}"/>
              </a:ext>
            </a:extLst>
          </p:cNvPr>
          <p:cNvCxnSpPr>
            <a:cxnSpLocks/>
          </p:cNvCxnSpPr>
          <p:nvPr/>
        </p:nvCxnSpPr>
        <p:spPr>
          <a:xfrm>
            <a:off x="6304934" y="1186249"/>
            <a:ext cx="0" cy="452214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5698675-C8B8-8EDE-744B-DA26337C2A73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2BC999-591A-6D26-CE1B-A0ABC2F95562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8C1B26-3CF0-AB6E-EC14-0E5563024245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F80828-03B3-8D2B-75C8-EBF3EB06A9CA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>
            <a:extLst>
              <a:ext uri="{FF2B5EF4-FFF2-40B4-BE49-F238E27FC236}">
                <a16:creationId xmlns:a16="http://schemas.microsoft.com/office/drawing/2014/main" id="{89242359-B6A8-ACC5-6BEE-980A791F727E}"/>
              </a:ext>
            </a:extLst>
          </p:cNvPr>
          <p:cNvSpPr/>
          <p:nvPr/>
        </p:nvSpPr>
        <p:spPr>
          <a:xfrm>
            <a:off x="0" y="-8092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464344"/>
            <a:ext cx="12191999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FINDINGS</a:t>
            </a:r>
            <a:endParaRPr lang="en-US" sz="4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178" t="5487"/>
          <a:stretch>
            <a:fillRect/>
          </a:stretch>
        </p:blipFill>
        <p:spPr>
          <a:xfrm>
            <a:off x="65925" y="1355813"/>
            <a:ext cx="3734401" cy="2301641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565" t="5568"/>
          <a:stretch>
            <a:fillRect/>
          </a:stretch>
        </p:blipFill>
        <p:spPr>
          <a:xfrm>
            <a:off x="4614889" y="1355813"/>
            <a:ext cx="3195380" cy="2332806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3331" t="4950"/>
          <a:stretch>
            <a:fillRect/>
          </a:stretch>
        </p:blipFill>
        <p:spPr>
          <a:xfrm>
            <a:off x="3865246" y="4169585"/>
            <a:ext cx="4046934" cy="237900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5B3117E-32F5-A8E8-B067-DCDD2ECDEFE8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393"/>
          <a:stretch>
            <a:fillRect/>
          </a:stretch>
        </p:blipFill>
        <p:spPr>
          <a:xfrm>
            <a:off x="7977101" y="2274302"/>
            <a:ext cx="4172810" cy="2828634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A17F253-4987-D692-958A-E5062405C8F1}"/>
              </a:ext>
            </a:extLst>
          </p:cNvPr>
          <p:cNvSpPr txBox="1"/>
          <p:nvPr/>
        </p:nvSpPr>
        <p:spPr>
          <a:xfrm>
            <a:off x="5084576" y="1117297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coffee exporters,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A0B841F-88FD-71B3-0165-09C472BBD777}"/>
              </a:ext>
            </a:extLst>
          </p:cNvPr>
          <p:cNvSpPr txBox="1"/>
          <p:nvPr/>
        </p:nvSpPr>
        <p:spPr>
          <a:xfrm>
            <a:off x="5084576" y="3928680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coffee importers,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189016F-0E07-548B-E925-9FB915C637E5}"/>
              </a:ext>
            </a:extLst>
          </p:cNvPr>
          <p:cNvSpPr txBox="1"/>
          <p:nvPr/>
        </p:nvSpPr>
        <p:spPr>
          <a:xfrm>
            <a:off x="1150422" y="1114908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coffee producers,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F548C0-455B-7DEF-DA90-D380E0AE17F6}"/>
              </a:ext>
            </a:extLst>
          </p:cNvPr>
          <p:cNvSpPr txBox="1"/>
          <p:nvPr/>
        </p:nvSpPr>
        <p:spPr>
          <a:xfrm>
            <a:off x="8761449" y="1903009"/>
            <a:ext cx="26882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Yield vs export price,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34D96DF7-3744-FEB5-E5F8-E527518110E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4014"/>
          <a:stretch>
            <a:fillRect/>
          </a:stretch>
        </p:blipFill>
        <p:spPr>
          <a:xfrm>
            <a:off x="65925" y="4208267"/>
            <a:ext cx="3734400" cy="2301641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2851FF6-8107-1C4F-B346-551866997A78}"/>
              </a:ext>
            </a:extLst>
          </p:cNvPr>
          <p:cNvSpPr txBox="1"/>
          <p:nvPr/>
        </p:nvSpPr>
        <p:spPr>
          <a:xfrm>
            <a:off x="262759" y="3928679"/>
            <a:ext cx="37417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 Top 10 processed-green beans volume  , 2024 (</a:t>
            </a:r>
            <a:r>
              <a:rPr lang="en-US" sz="1200" dirty="0" err="1"/>
              <a:t>tonnes</a:t>
            </a:r>
            <a:r>
              <a:rPr lang="en-US" sz="1200" dirty="0"/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E3E16B4-A0F3-1C6B-31C6-848ED6083F9F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8F582-E184-B6C2-E913-998117339970}"/>
              </a:ext>
            </a:extLst>
          </p:cNvPr>
          <p:cNvSpPr txBox="1"/>
          <p:nvPr/>
        </p:nvSpPr>
        <p:spPr>
          <a:xfrm>
            <a:off x="0" y="6633454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 | EDA &amp; SQL PROJECT PRESENTATION by RIZKI FIRDAUS | FRIDAY, 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>
            <a:extLst>
              <a:ext uri="{FF2B5EF4-FFF2-40B4-BE49-F238E27FC236}">
                <a16:creationId xmlns:a16="http://schemas.microsoft.com/office/drawing/2014/main" id="{9BBE7B19-2E7A-B600-A471-877D2650F8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24075" y="500575"/>
            <a:ext cx="3400107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CONCLUSIONS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94551" y="1472601"/>
            <a:ext cx="5367725" cy="357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Do more land or higher yield mean a lower export price?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26364" y="1851371"/>
            <a:ext cx="5562362" cy="13461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Weakly supported.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Larger, higher-yield producers tend to sell a little cheaper, but the relationship is weak and inconsistent across all 18 countries.</a:t>
            </a:r>
            <a:endParaRPr lang="en-US" sz="1100" dirty="0"/>
          </a:p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Area correlation: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−0.16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· Yield correlation: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−0.26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Viet Nam: highest yield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2,536 kg/ha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cheapest price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$1.83/kg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 Kenya: lowest yield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376 kg/ha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highest price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$5.21/kg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4551" y="4219656"/>
            <a:ext cx="5340742" cy="33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Do importers pay more per kg than exporters receive?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24075" y="4638428"/>
            <a:ext cx="5443964" cy="1117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marL="0" indent="0" algn="l">
              <a:lnSpc>
                <a:spcPct val="117000"/>
              </a:lnSpc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Partly supported.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Importers paid more in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54 of 64 years (84%)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, but the gap did not grow.</a:t>
            </a:r>
            <a:endParaRPr lang="en-US" sz="1100" dirty="0"/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The gap peaked around 1990 at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+27%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 and nearly disappeared by 2024 at </a:t>
            </a:r>
            <a:r>
              <a:rPr lang="en-US" sz="1100" b="1" dirty="0">
                <a:solidFill>
                  <a:srgbClr val="000000"/>
                </a:solidFill>
                <a:latin typeface="Schibsted Grotesk Bold" pitchFamily="34" charset="0"/>
                <a:ea typeface="Schibsted Grotesk Bold" pitchFamily="34" charset="-122"/>
                <a:cs typeface="Schibsted Grotesk Bold" pitchFamily="34" charset="-120"/>
              </a:rPr>
              <a:t>−0.5%</a:t>
            </a: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ea typeface="Schibsted Grotesk" pitchFamily="34" charset="-122"/>
                <a:cs typeface="Schibsted Grotesk" pitchFamily="34" charset="-120"/>
              </a:rPr>
              <a:t>.</a:t>
            </a:r>
          </a:p>
          <a:p>
            <a:pPr marL="0" indent="0" algn="l">
              <a:lnSpc>
                <a:spcPct val="117000"/>
              </a:lnSpc>
              <a:buNone/>
            </a:pPr>
            <a:endParaRPr lang="en-US" sz="1100" dirty="0">
              <a:solidFill>
                <a:srgbClr val="000000"/>
              </a:solidFill>
              <a:latin typeface="Schibsted Grotesk" pitchFamily="34" charset="0"/>
              <a:cs typeface="Schibsted Grotesk" pitchFamily="34" charset="-120"/>
            </a:endParaRPr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cs typeface="Schibsted Grotesk" pitchFamily="34" charset="-120"/>
              </a:rPr>
              <a:t>• FAIR TRADE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cs typeface="Schibsted Grotesk" pitchFamily="34" charset="-120"/>
              </a:rPr>
              <a:t>• DIRECT TRADE</a:t>
            </a:r>
          </a:p>
          <a:p>
            <a:pPr marL="0" indent="0" algn="l">
              <a:lnSpc>
                <a:spcPct val="117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Schibsted Grotesk" pitchFamily="34" charset="0"/>
                <a:cs typeface="Schibsted Grotesk" pitchFamily="34" charset="-120"/>
              </a:rPr>
              <a:t>• FARM TO TABLE</a:t>
            </a:r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-1" t="4033" r="621" b="2954"/>
          <a:stretch>
            <a:fillRect/>
          </a:stretch>
        </p:blipFill>
        <p:spPr>
          <a:xfrm>
            <a:off x="6070799" y="299431"/>
            <a:ext cx="5968906" cy="3361079"/>
          </a:xfrm>
          <a:prstGeom prst="rect">
            <a:avLst/>
          </a:prstGeom>
        </p:spPr>
      </p:pic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5973"/>
          <a:stretch>
            <a:fillRect/>
          </a:stretch>
        </p:blipFill>
        <p:spPr>
          <a:xfrm>
            <a:off x="6130583" y="3948186"/>
            <a:ext cx="5849338" cy="2685268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3E5A355-D875-A094-30CD-C057A54CEE46}"/>
              </a:ext>
            </a:extLst>
          </p:cNvPr>
          <p:cNvCxnSpPr>
            <a:cxnSpLocks/>
          </p:cNvCxnSpPr>
          <p:nvPr/>
        </p:nvCxnSpPr>
        <p:spPr>
          <a:xfrm flipH="1">
            <a:off x="304792" y="3795165"/>
            <a:ext cx="1178820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282EA31-4C21-3D79-DBE8-D4FCFEC717EC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AE3E44-CFC7-1A63-B5B9-0ADFCED53A73}"/>
              </a:ext>
            </a:extLst>
          </p:cNvPr>
          <p:cNvSpPr txBox="1"/>
          <p:nvPr/>
        </p:nvSpPr>
        <p:spPr>
          <a:xfrm>
            <a:off x="0" y="6633454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 | EDA &amp; SQL PROJECT PRESENTATION by RIZKI FIRDAUS | FRIDAY, 2 OCTOBER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34AB8E9A-EABE-2B33-4A8B-165C09054B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" name="Text 1">
            <a:extLst>
              <a:ext uri="{FF2B5EF4-FFF2-40B4-BE49-F238E27FC236}">
                <a16:creationId xmlns:a16="http://schemas.microsoft.com/office/drawing/2014/main" id="{96871236-8E0A-9E7E-586A-99FF3A1C9BED}"/>
              </a:ext>
            </a:extLst>
          </p:cNvPr>
          <p:cNvSpPr/>
          <p:nvPr/>
        </p:nvSpPr>
        <p:spPr>
          <a:xfrm>
            <a:off x="2060028" y="2893697"/>
            <a:ext cx="3415862" cy="5308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7900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Big Shoulders ExtraBold" pitchFamily="34" charset="0"/>
                <a:ea typeface="Big Shoulders ExtraBold" pitchFamily="34" charset="-122"/>
                <a:cs typeface="Big Shoulders ExtraBold" pitchFamily="34" charset="-120"/>
              </a:rPr>
              <a:t>WHATS NEXT</a:t>
            </a:r>
            <a:endParaRPr lang="en-US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B6BE68-7D79-3404-39F0-58F561765974}"/>
              </a:ext>
            </a:extLst>
          </p:cNvPr>
          <p:cNvSpPr txBox="1"/>
          <p:nvPr/>
        </p:nvSpPr>
        <p:spPr>
          <a:xfrm>
            <a:off x="2060028" y="3670738"/>
            <a:ext cx="72941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• Arabica vs. robusta is not distinguished in the data.</a:t>
            </a:r>
          </a:p>
          <a:p>
            <a:endParaRPr lang="en-US" dirty="0"/>
          </a:p>
          <a:p>
            <a:pPr lvl="0"/>
            <a:r>
              <a:rPr lang="en-US" dirty="0"/>
              <a:t>• Build a tech-access index and re-run the yield–price test against the total yield of coffee farmers with ‘better tech’.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C80ACC-EEA5-A1ED-DC0E-F0BCD4E1C66F}"/>
              </a:ext>
            </a:extLst>
          </p:cNvPr>
          <p:cNvSpPr txBox="1"/>
          <p:nvPr/>
        </p:nvSpPr>
        <p:spPr>
          <a:xfrm>
            <a:off x="0" y="6617362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248937-619F-D4A1-E712-899E029C3267}"/>
              </a:ext>
            </a:extLst>
          </p:cNvPr>
          <p:cNvSpPr txBox="1"/>
          <p:nvPr/>
        </p:nvSpPr>
        <p:spPr>
          <a:xfrm rot="16200000">
            <a:off x="-3291204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</a:t>
            </a:r>
            <a:endParaRPr 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46D1B1-CE6A-7633-2489-B4D39A269D41}"/>
              </a:ext>
            </a:extLst>
          </p:cNvPr>
          <p:cNvSpPr txBox="1"/>
          <p:nvPr/>
        </p:nvSpPr>
        <p:spPr>
          <a:xfrm>
            <a:off x="0" y="20750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- COFFEE LAND VS PRICE -</a:t>
            </a:r>
            <a:endParaRPr lang="en-US" sz="9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E8C9D1-FB29-1E12-50C0-95CC84F3030B}"/>
              </a:ext>
            </a:extLst>
          </p:cNvPr>
          <p:cNvSpPr txBox="1"/>
          <p:nvPr/>
        </p:nvSpPr>
        <p:spPr>
          <a:xfrm rot="5400000">
            <a:off x="8626826" y="3313584"/>
            <a:ext cx="685800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2 OCTOBER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6807374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>
            <a:extLst>
              <a:ext uri="{FF2B5EF4-FFF2-40B4-BE49-F238E27FC236}">
                <a16:creationId xmlns:a16="http://schemas.microsoft.com/office/drawing/2014/main" id="{BB8F9F53-7FAD-866F-EE2C-579F70C941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Text 5">
            <a:extLst>
              <a:ext uri="{FF2B5EF4-FFF2-40B4-BE49-F238E27FC236}">
                <a16:creationId xmlns:a16="http://schemas.microsoft.com/office/drawing/2014/main" id="{8F1E294D-C61B-9416-78F5-75E03A11DE2E}"/>
              </a:ext>
            </a:extLst>
          </p:cNvPr>
          <p:cNvSpPr/>
          <p:nvPr/>
        </p:nvSpPr>
        <p:spPr>
          <a:xfrm>
            <a:off x="0" y="4629803"/>
            <a:ext cx="12192000" cy="312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kern="0" spc="50" dirty="0">
                <a:solidFill>
                  <a:schemeClr val="bg1">
                    <a:lumMod val="65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T H A N K  Y O U .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486776-E240-5698-272E-D52764F3D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544" y="5538502"/>
            <a:ext cx="556912" cy="6020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86D40BB-26BA-FB0A-E51B-4B2D847A8442}"/>
              </a:ext>
            </a:extLst>
          </p:cNvPr>
          <p:cNvSpPr txBox="1"/>
          <p:nvPr/>
        </p:nvSpPr>
        <p:spPr>
          <a:xfrm>
            <a:off x="0" y="6381207"/>
            <a:ext cx="12192000" cy="236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8000"/>
              </a:lnSpc>
            </a:pP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IRONHACK | WEEK 3 | PROJECT 1 | COFFEE LAND VS PRICE </a:t>
            </a:r>
            <a:r>
              <a:rPr lang="en-US" sz="900" dirty="0">
                <a:solidFill>
                  <a:schemeClr val="bg2">
                    <a:lumMod val="90000"/>
                  </a:schemeClr>
                </a:solidFill>
              </a:rPr>
              <a:t>| </a:t>
            </a:r>
            <a:r>
              <a:rPr lang="en-US" sz="900" kern="0" spc="50" dirty="0">
                <a:solidFill>
                  <a:schemeClr val="bg2">
                    <a:lumMod val="90000"/>
                  </a:schemeClr>
                </a:solidFill>
                <a:latin typeface="Red Hat Mono Medium" pitchFamily="34" charset="0"/>
                <a:ea typeface="Red Hat Mono Medium" pitchFamily="34" charset="-122"/>
                <a:cs typeface="Red Hat Mono Medium" pitchFamily="34" charset="-120"/>
              </a:rPr>
              <a:t>EDA &amp; SQL PROJECT PRESENTATION by RIZKI FIRDAUS | FRIDAY, 2 OCTOBER 2026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1620811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772</Words>
  <Application>Microsoft Macintosh PowerPoint</Application>
  <PresentationFormat>Widescreen</PresentationFormat>
  <Paragraphs>102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Big Shoulders ExtraBold</vt:lpstr>
      <vt:lpstr>Schibsted Grotesk</vt:lpstr>
      <vt:lpstr>Red Hat Mono Medium</vt:lpstr>
      <vt:lpstr>Arial</vt:lpstr>
      <vt:lpstr>Schibsted Grotesk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Rizki Firdaus</cp:lastModifiedBy>
  <cp:revision>6</cp:revision>
  <dcterms:created xsi:type="dcterms:W3CDTF">2026-10-01T13:33:43Z</dcterms:created>
  <dcterms:modified xsi:type="dcterms:W3CDTF">2026-10-01T22:39:40Z</dcterms:modified>
</cp:coreProperties>
</file>