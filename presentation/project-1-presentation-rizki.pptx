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Big Shoulders ExtraBold" pitchFamily="2" charset="77"/>
      <p:regular r:id="rId10"/>
      <p:bold r:id="rId11"/>
    </p:embeddedFont>
    <p:embeddedFont>
      <p:font typeface="Red Hat Mono Medium" panose="02010509040201060303" pitchFamily="49" charset="0"/>
      <p:regular r:id="rId12"/>
    </p:embeddedFont>
    <p:embeddedFont>
      <p:font typeface="Schibsted Grotesk" pitchFamily="2" charset="77"/>
      <p:regular r:id="rId13"/>
    </p:embeddedFont>
    <p:embeddedFont>
      <p:font typeface="Schibsted Grotesk Bold" pitchFamily="2" charset="77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634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as a comparison between coffee land, yield, and price across the upstream part of the coffee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flow to orient the audience: the project follows coffee from production and export through trade movement to roasting, retail, and the final cup, while the analysis stays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combines a long historical range with broad country coverage and separate production and trade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filter is deliberately strict. Verified values stay; estimated or unverified values are ignored; the processed dataset is reduced to two usable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ERD as the traceability layer behind the analysis. The image is the supplied coffee database diagram; do not infer entities or relationships beyond what it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7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11182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112127" y="0"/>
            <a:ext cx="5079873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7594410" y="533400"/>
            <a:ext cx="459728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WEEK 3 · PROJECT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594410" y="3519230"/>
            <a:ext cx="4114697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2800" kern="0" spc="28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COFFEE LAND VS PRICE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594410" y="4042410"/>
            <a:ext cx="4114697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kern="0" spc="50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· RIZKI FIRDAUS</a:t>
            </a:r>
            <a:endParaRPr lang="en-US" sz="125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8987A50-118D-F66B-6E0C-3633E80A8DA1}"/>
              </a:ext>
            </a:extLst>
          </p:cNvPr>
          <p:cNvSpPr/>
          <p:nvPr/>
        </p:nvSpPr>
        <p:spPr>
          <a:xfrm>
            <a:off x="7594410" y="6118225"/>
            <a:ext cx="4114697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5"/>
          <p:cNvSpPr/>
          <p:nvPr/>
        </p:nvSpPr>
        <p:spPr>
          <a:xfrm>
            <a:off x="5892958" y="0"/>
            <a:ext cx="6299042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5892653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5176" y="1497131"/>
            <a:ext cx="558786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THE COFFEE CHAIN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65176" y="1828521"/>
            <a:ext cx="5283068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FROM FARM TO FINAL CUP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248244" y="2907843"/>
            <a:ext cx="558786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drives coffee’s export price?</a:t>
            </a:r>
            <a:endParaRPr lang="en-US" sz="1600" b="1" dirty="0"/>
          </a:p>
        </p:txBody>
      </p:sp>
      <p:sp>
        <p:nvSpPr>
          <p:cNvPr id="6" name="Text 4"/>
          <p:cNvSpPr/>
          <p:nvPr/>
        </p:nvSpPr>
        <p:spPr>
          <a:xfrm>
            <a:off x="6248244" y="3376452"/>
            <a:ext cx="5232270" cy="1510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 bigger, more efficient growers sell cheaper?</a:t>
            </a:r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 buyers pay more than sellers actually get?</a:t>
            </a:r>
            <a:endParaRPr lang="en-US" sz="1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76" y="2463898"/>
            <a:ext cx="4648084" cy="28206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111111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0191"/>
            <a:ext cx="10972526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111111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OFFICIAL RECORDS on PRODUCTION, PROCESSING &amp; TRADE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9585" y="1899920"/>
            <a:ext cx="3657509" cy="3989705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71118" y="0"/>
                </a:moveTo>
                <a:lnTo>
                  <a:pt x="3657509" y="0"/>
                </a:lnTo>
                <a:lnTo>
                  <a:pt x="3657509" y="4411464"/>
                </a:lnTo>
                <a:lnTo>
                  <a:pt x="71118" y="4411464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76278" y="221476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64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76278" y="3222625"/>
            <a:ext cx="3149521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years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1961–2024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67093" y="1899920"/>
            <a:ext cx="3657509" cy="3989705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53720" y="221476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203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753720" y="3222625"/>
            <a:ext cx="3149521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countries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represented in the lookup table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924602" y="1899920"/>
            <a:ext cx="3657509" cy="3989705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0" y="0"/>
                </a:moveTo>
                <a:lnTo>
                  <a:pt x="3586390" y="0"/>
                </a:lnTo>
                <a:arcTo wR="71118" hR="71120" stAng="16200000" swAng="5400000"/>
                <a:lnTo>
                  <a:pt x="3657509" y="4340344"/>
                </a:lnTo>
                <a:arcTo wR="71118" hR="71120" stAng="0" swAng="5400000"/>
                <a:lnTo>
                  <a:pt x="0" y="4411464"/>
                </a:lnTo>
                <a:lnTo>
                  <a:pt x="0" y="0"/>
                </a:lnTo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919218" y="221476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41,179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7919218" y="3222625"/>
            <a:ext cx="3149521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official values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8,082 production rows · 33,097 trade rows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585" y="6042025"/>
            <a:ext cx="11582110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kern="0" spc="50" dirty="0">
                <a:solidFill>
                  <a:srgbClr val="5A5A5A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SOURCE: FAOSTAT ANALYTICAL DATA.</a:t>
            </a:r>
            <a:endParaRPr lang="en-US" sz="125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82A1BC-5308-6D87-F2E4-F5ABA53A0570}"/>
              </a:ext>
            </a:extLst>
          </p:cNvPr>
          <p:cNvCxnSpPr/>
          <p:nvPr/>
        </p:nvCxnSpPr>
        <p:spPr>
          <a:xfrm>
            <a:off x="3009799" y="1899920"/>
            <a:ext cx="0" cy="39897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3E9D21-837C-EE4C-12F6-FB31C7E40601}"/>
              </a:ext>
            </a:extLst>
          </p:cNvPr>
          <p:cNvCxnSpPr/>
          <p:nvPr/>
        </p:nvCxnSpPr>
        <p:spPr>
          <a:xfrm>
            <a:off x="7411229" y="1899920"/>
            <a:ext cx="0" cy="39897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111111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DATA QUALITY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890191"/>
            <a:ext cx="10972526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111111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THE ANALYSIS KEEPS VERIFIED VALUES AND DROPS WEAK INPUTS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267093" y="1452761"/>
            <a:ext cx="3657509" cy="4358779"/>
          </a:xfrm>
          <a:custGeom>
            <a:avLst/>
            <a:gdLst/>
            <a:ahLst/>
            <a:cxnLst/>
            <a:rect l="l" t="t" r="r" b="b"/>
            <a:pathLst>
              <a:path w="3657509" h="4358779">
                <a:moveTo>
                  <a:pt x="71118" y="0"/>
                </a:moveTo>
                <a:lnTo>
                  <a:pt x="3657509" y="0"/>
                </a:lnTo>
                <a:lnTo>
                  <a:pt x="3657509" y="4358779"/>
                </a:lnTo>
                <a:lnTo>
                  <a:pt x="71118" y="4358779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46486" y="1706761"/>
            <a:ext cx="659788" cy="316805"/>
          </a:xfrm>
          <a:prstGeom prst="roundRect">
            <a:avLst>
              <a:gd name="adj" fmla="val 21551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668323" y="1767681"/>
            <a:ext cx="1025698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KEEP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46486" y="2106116"/>
            <a:ext cx="309872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Officially verified values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46486" y="2892127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Inputs that remain comparable across the analysis.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9584" y="1453912"/>
            <a:ext cx="3657509" cy="4358779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88977" y="1707912"/>
            <a:ext cx="867845" cy="316805"/>
          </a:xfrm>
          <a:prstGeom prst="roundRect">
            <a:avLst>
              <a:gd name="adj" fmla="val 21551"/>
            </a:avLst>
          </a:prstGeom>
          <a:noFill/>
          <a:ln w="6350">
            <a:solidFill>
              <a:srgbClr val="202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10815" y="1768832"/>
            <a:ext cx="1233754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IGNORE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88977" y="2107267"/>
            <a:ext cx="309872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Estimated or unverified values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88977" y="2893278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Inputs that do not meet the verification rule.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924602" y="1452761"/>
            <a:ext cx="3657509" cy="4358779"/>
          </a:xfrm>
          <a:custGeom>
            <a:avLst/>
            <a:gdLst/>
            <a:ahLst/>
            <a:cxnLst/>
            <a:rect l="l" t="t" r="r" b="b"/>
            <a:pathLst>
              <a:path w="3657509" h="4358779">
                <a:moveTo>
                  <a:pt x="0" y="0"/>
                </a:moveTo>
                <a:lnTo>
                  <a:pt x="3586390" y="0"/>
                </a:lnTo>
                <a:arcTo wR="71118" hR="71120" stAng="16200000" swAng="5400000"/>
                <a:lnTo>
                  <a:pt x="3657509" y="4287659"/>
                </a:lnTo>
                <a:arcTo wR="71118" hR="71120" stAng="0" swAng="5400000"/>
                <a:lnTo>
                  <a:pt x="0" y="4358779"/>
                </a:lnTo>
                <a:lnTo>
                  <a:pt x="0" y="0"/>
                </a:lnTo>
                <a:close/>
              </a:path>
            </a:pathLst>
          </a:custGeom>
          <a:solidFill>
            <a:srgbClr val="7B2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03995" y="1706761"/>
            <a:ext cx="871424" cy="316805"/>
          </a:xfrm>
          <a:prstGeom prst="roundRect">
            <a:avLst>
              <a:gd name="adj" fmla="val 21551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5832" y="1767681"/>
            <a:ext cx="1025698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RESULT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03995" y="2106116"/>
            <a:ext cx="3098722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Processed dataset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203995" y="2572147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Two usable inputs remained after filtering.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60743" y="1452761"/>
            <a:ext cx="12700" cy="4358779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918252" y="1452761"/>
            <a:ext cx="12700" cy="4358779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5892653" y="0"/>
            <a:ext cx="6299042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31902" y="0"/>
            <a:ext cx="5892653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377" y="2080418"/>
            <a:ext cx="558786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377" y="2361009"/>
            <a:ext cx="5283068" cy="820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400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HOW THE COFFEE DATA CONNECTS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377" y="3047603"/>
            <a:ext cx="5283068" cy="2075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Reference tables hold countries, measurements, and data-quality flags.</a:t>
            </a:r>
            <a:endParaRPr lang="en-US" sz="1600" dirty="0"/>
          </a:p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Record tables hold production and import/export price observations.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Linked keys connect each observation to its country, year, measurement, and source.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349" y="1322586"/>
            <a:ext cx="4940176" cy="37175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97445" y="5122664"/>
            <a:ext cx="568945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kern="0" spc="50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ENTITY RELATIONAL DIAGRAM (ERD) · SOURCE: SUPPLIED POWERPOINT CONTENT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305" y="1268204"/>
            <a:ext cx="12191695" cy="5589796"/>
          </a:xfrm>
          <a:prstGeom prst="rect">
            <a:avLst/>
          </a:prstGeom>
          <a:solidFill>
            <a:srgbClr val="F1F2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2AC2FC1A-7CCE-825C-C0DB-D16E39F9BCA6}"/>
              </a:ext>
            </a:extLst>
          </p:cNvPr>
          <p:cNvSpPr/>
          <p:nvPr/>
        </p:nvSpPr>
        <p:spPr>
          <a:xfrm>
            <a:off x="5477483" y="3893929"/>
            <a:ext cx="4409441" cy="24733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F57DD313-FE3E-7584-F448-7094ED7CCB80}"/>
              </a:ext>
            </a:extLst>
          </p:cNvPr>
          <p:cNvSpPr/>
          <p:nvPr/>
        </p:nvSpPr>
        <p:spPr>
          <a:xfrm>
            <a:off x="5477483" y="1338461"/>
            <a:ext cx="4409441" cy="24733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3FFDAE05-6ED5-F2D3-9276-AFFB08F6DCFA}"/>
              </a:ext>
            </a:extLst>
          </p:cNvPr>
          <p:cNvSpPr/>
          <p:nvPr/>
        </p:nvSpPr>
        <p:spPr>
          <a:xfrm>
            <a:off x="741679" y="3893930"/>
            <a:ext cx="4409441" cy="24733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51839" y="355600"/>
            <a:ext cx="11734506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FINDINGS FROM THE DATA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1679" y="885021"/>
            <a:ext cx="1196310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Brazil leads production and exports; the yield–price relationship is mixed rather than a simple straight line.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1839" y="1343770"/>
            <a:ext cx="4409441" cy="24733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487" y="3988484"/>
            <a:ext cx="3390815" cy="2140942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864" y="1603838"/>
            <a:ext cx="2857429" cy="2130326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5677" y="4018745"/>
            <a:ext cx="3479713" cy="2080419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8372" y="1471088"/>
            <a:ext cx="2793930" cy="2219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95"/>
            <a:ext cx="12191695" cy="894159"/>
          </a:xfrm>
          <a:prstGeom prst="rect">
            <a:avLst/>
          </a:prstGeom>
          <a:solidFill>
            <a:srgbClr val="F1F2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52296" y="423962"/>
            <a:ext cx="11886903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CONCLUSIONS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1046460"/>
            <a:ext cx="12191695" cy="5811540"/>
          </a:xfrm>
          <a:prstGeom prst="rect">
            <a:avLst/>
          </a:prstGeom>
          <a:solidFill>
            <a:srgbClr val="F1F2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2396" y="1198860"/>
            <a:ext cx="6553204" cy="26771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04792" y="1503560"/>
            <a:ext cx="648207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Do more land or higher yield mean a lower export price?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7815" y="2083692"/>
            <a:ext cx="5562362" cy="13461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Weakly supported.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Larger, higher-yield producers tend to sell a little cheaper, but the relationship is weak and inconsistent across all 18 countries.</a:t>
            </a:r>
            <a:endParaRPr lang="en-US" sz="1100" dirty="0"/>
          </a:p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Area correlation: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−0.16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· Yield correlation: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−0.26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Viet Nam: highest yield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2,536 kg/ha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cheapest price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$1.83/kg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 Kenya: lowest yield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376 kg/ha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highest price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$5.21/kg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2395" y="3998803"/>
            <a:ext cx="6553203" cy="26772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4792" y="4204007"/>
            <a:ext cx="640080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Do importers pay more per kg than exporters receive?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7815" y="5167957"/>
            <a:ext cx="5562362" cy="770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Partly supported.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Importers paid more in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54 of 64 years (84%)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but the gap did not grow.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gap peaked around 1990 at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+27%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and nearly disappeared by 2024 at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−0.5%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4107" y="1138237"/>
            <a:ext cx="4831334" cy="26771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103" y="1233587"/>
            <a:ext cx="4254394" cy="255954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944107" y="4002385"/>
            <a:ext cx="4831334" cy="26772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103" y="4129385"/>
            <a:ext cx="4254394" cy="20771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486</Words>
  <Application>Microsoft Macintosh PowerPoint</Application>
  <PresentationFormat>Widescreen</PresentationFormat>
  <Paragraphs>61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Big Shoulders ExtraBold</vt:lpstr>
      <vt:lpstr>Schibsted Grotesk</vt:lpstr>
      <vt:lpstr>Red Hat Mono Medium</vt:lpstr>
      <vt:lpstr>Arial</vt:lpstr>
      <vt:lpstr>Schibsted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Rizki Firdaus</cp:lastModifiedBy>
  <cp:revision>2</cp:revision>
  <dcterms:created xsi:type="dcterms:W3CDTF">2026-10-01T13:33:43Z</dcterms:created>
  <dcterms:modified xsi:type="dcterms:W3CDTF">2026-10-01T13:53:24Z</dcterms:modified>
</cp:coreProperties>
</file>