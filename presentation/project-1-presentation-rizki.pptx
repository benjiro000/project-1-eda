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Big Shoulders ExtraBold" pitchFamily="2" charset="77"/>
      <p:regular r:id="rId12"/>
      <p:bold r:id="rId13"/>
    </p:embeddedFont>
    <p:embeddedFont>
      <p:font typeface="Red Hat Mono Medium" panose="02010509040201060303" pitchFamily="49" charset="0"/>
      <p:regular r:id="rId14"/>
    </p:embeddedFont>
    <p:embeddedFont>
      <p:font typeface="Schibsted Grotesk" pitchFamily="2" charset="77"/>
      <p:regular r:id="rId15"/>
    </p:embeddedFont>
    <p:embeddedFont>
      <p:font typeface="Schibsted Grotesk Bold" pitchFamily="2" charset="77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78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8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63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comparison between coffee land, yield, and price across the upstream part of the coffee trade.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flow to orient the audience: the project follows coffee from production and export through trade movement to roasting, retail, and the final cup, while the analysis stays upstream.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combines a long historical range with broad country coverage and separate production and trade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filter is deliberately strict. Verified values stay; estimated or unverified values are ignored; the processed dataset is reduced to two usable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ERD as the traceability layer behind the analysis. The image is the supplied coffee database diagram; do not infer entities or relationships beyond what it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A91207F0-5EAE-56FE-9382-8E01FAFE23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111822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08606" y="1248736"/>
            <a:ext cx="3868692" cy="21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kern="0" spc="48" dirty="0">
                <a:solidFill>
                  <a:schemeClr val="bg2">
                    <a:lumMod val="5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WEEK 3 · PROJECT 1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608911" y="3925202"/>
            <a:ext cx="455240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75000"/>
              </a:lnSpc>
              <a:buNone/>
            </a:pPr>
            <a:r>
              <a:rPr lang="en-US" sz="3200" kern="0" spc="28" dirty="0">
                <a:solidFill>
                  <a:srgbClr val="20202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COFFEE LAND vs PRICE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608606" y="4314632"/>
            <a:ext cx="455240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8000"/>
              </a:lnSpc>
            </a:pPr>
            <a:r>
              <a:rPr lang="en-US" sz="1250" kern="0" spc="50" dirty="0">
                <a:solidFill>
                  <a:schemeClr val="bg2">
                    <a:lumMod val="25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EDA &amp; SQL PROJECT PRESENTATION</a:t>
            </a:r>
          </a:p>
          <a:p>
            <a:pPr>
              <a:lnSpc>
                <a:spcPct val="108000"/>
              </a:lnSpc>
            </a:pPr>
            <a:r>
              <a:rPr lang="en-US" sz="1250" kern="0" spc="50" dirty="0">
                <a:solidFill>
                  <a:schemeClr val="bg2">
                    <a:lumMod val="25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BY RIZKI FIRDAUS</a:t>
            </a:r>
            <a:endParaRPr lang="en-US" sz="12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8987A50-118D-F66B-6E0C-3633E80A8DA1}"/>
              </a:ext>
            </a:extLst>
          </p:cNvPr>
          <p:cNvSpPr/>
          <p:nvPr/>
        </p:nvSpPr>
        <p:spPr>
          <a:xfrm>
            <a:off x="7608299" y="6118225"/>
            <a:ext cx="4583089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8000"/>
              </a:lnSpc>
            </a:pPr>
            <a:r>
              <a:rPr lang="en-US" sz="1250" kern="0" spc="50" dirty="0">
                <a:solidFill>
                  <a:schemeClr val="bg2">
                    <a:lumMod val="5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2 OCTOBER 2026</a:t>
            </a:r>
            <a:endParaRPr lang="en-US" sz="125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42166F31-517E-8A5A-4418-346CAC5217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95836" y="1636145"/>
            <a:ext cx="494135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48" dirty="0">
                <a:solidFill>
                  <a:srgbClr val="20202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THE COFFEE CHAIN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95836" y="1967535"/>
            <a:ext cx="4900164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dirty="0">
                <a:solidFill>
                  <a:srgbClr val="20202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FROM FARM TO CUP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40396" y="2628696"/>
            <a:ext cx="523227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2020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What drives coffee’s export price?</a:t>
            </a:r>
            <a:endParaRPr lang="en-US" sz="1600" b="1" dirty="0"/>
          </a:p>
        </p:txBody>
      </p:sp>
      <p:sp>
        <p:nvSpPr>
          <p:cNvPr id="6" name="Text 4"/>
          <p:cNvSpPr/>
          <p:nvPr/>
        </p:nvSpPr>
        <p:spPr>
          <a:xfrm>
            <a:off x="6540396" y="3097305"/>
            <a:ext cx="5232270" cy="1510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2020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Do bigger, more efficient growers sell cheaper?</a:t>
            </a:r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2020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Do buyers pay more than sellers actually get?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654" y="2521180"/>
            <a:ext cx="5376536" cy="326275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1922FD-F930-9744-3A0F-1B166E06CB67}"/>
              </a:ext>
            </a:extLst>
          </p:cNvPr>
          <p:cNvCxnSpPr>
            <a:cxnSpLocks/>
          </p:cNvCxnSpPr>
          <p:nvPr/>
        </p:nvCxnSpPr>
        <p:spPr>
          <a:xfrm>
            <a:off x="6304934" y="2628696"/>
            <a:ext cx="0" cy="33021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347E115-E892-73C4-C9E0-5825B4BF8C12}"/>
              </a:ext>
            </a:extLst>
          </p:cNvPr>
          <p:cNvSpPr txBox="1"/>
          <p:nvPr/>
        </p:nvSpPr>
        <p:spPr>
          <a:xfrm>
            <a:off x="0" y="6617362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EDA &amp; SQL PROJECT PRESENTATION by RIZKI FIRDAUS</a:t>
            </a:r>
            <a:endParaRPr lang="en-US" sz="9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DBE16E-FAF5-3080-B9D3-D3C0F65D009D}"/>
              </a:ext>
            </a:extLst>
          </p:cNvPr>
          <p:cNvSpPr txBox="1"/>
          <p:nvPr/>
        </p:nvSpPr>
        <p:spPr>
          <a:xfrm rot="16200000">
            <a:off x="-3291204" y="3313584"/>
            <a:ext cx="68580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IRONHACK | WEEK 3 | PROJECT 1</a:t>
            </a:r>
            <a:endParaRPr lang="en-US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6EDD97-416F-C441-255E-7EC5A90F99A0}"/>
              </a:ext>
            </a:extLst>
          </p:cNvPr>
          <p:cNvSpPr txBox="1"/>
          <p:nvPr/>
        </p:nvSpPr>
        <p:spPr>
          <a:xfrm>
            <a:off x="0" y="20750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- COFFEE LAND VS PRICE -</a:t>
            </a:r>
            <a:endParaRPr lang="en-US" sz="9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E77790-D2E3-4879-5A2A-2611D2E54E91}"/>
              </a:ext>
            </a:extLst>
          </p:cNvPr>
          <p:cNvSpPr txBox="1"/>
          <p:nvPr/>
        </p:nvSpPr>
        <p:spPr>
          <a:xfrm rot="5400000">
            <a:off x="8626826" y="3313584"/>
            <a:ext cx="68580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2 OCTOBER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F6717B5C-FFF1-9557-5951-D91025CFE7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DA71CD-FE86-88C5-09C7-B70781B849BE}"/>
              </a:ext>
            </a:extLst>
          </p:cNvPr>
          <p:cNvSpPr/>
          <p:nvPr/>
        </p:nvSpPr>
        <p:spPr>
          <a:xfrm>
            <a:off x="3158080" y="2405448"/>
            <a:ext cx="4482082" cy="348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97886" y="1524518"/>
            <a:ext cx="951471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48" dirty="0">
                <a:solidFill>
                  <a:srgbClr val="111111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THREE OFFICIAL RECORDS :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7886" y="1889628"/>
            <a:ext cx="10244969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000" dirty="0">
                <a:solidFill>
                  <a:srgbClr val="111111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GREEN COFFEE PRODUCTION, PROCESSED GREEN BEANS, AND TRADE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9072" y="2405449"/>
            <a:ext cx="2359008" cy="3484176"/>
          </a:xfrm>
          <a:custGeom>
            <a:avLst/>
            <a:gdLst/>
            <a:ahLst/>
            <a:cxnLst/>
            <a:rect l="l" t="t" r="r" b="b"/>
            <a:pathLst>
              <a:path w="3657509" h="4411464">
                <a:moveTo>
                  <a:pt x="71118" y="0"/>
                </a:moveTo>
                <a:lnTo>
                  <a:pt x="3657509" y="0"/>
                </a:lnTo>
                <a:lnTo>
                  <a:pt x="3657509" y="4411464"/>
                </a:lnTo>
                <a:lnTo>
                  <a:pt x="71118" y="4411464"/>
                </a:lnTo>
                <a:arcTo wR="71118" hR="71120" stAng="5400000" swAng="5400000"/>
                <a:lnTo>
                  <a:pt x="0" y="71120"/>
                </a:lnTo>
                <a:arcTo wR="71118" hR="71120" stAng="10800000" swAng="5400000"/>
                <a:close/>
              </a:path>
            </a:pathLst>
          </a:cu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73893" y="3230721"/>
            <a:ext cx="1059614" cy="804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7200" kern="0" spc="72" dirty="0">
                <a:solidFill>
                  <a:srgbClr val="20202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64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85186" y="4238585"/>
            <a:ext cx="138960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20202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years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020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1961–2024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08740" y="3230721"/>
            <a:ext cx="3149521" cy="804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7200" kern="0" spc="72" dirty="0">
                <a:solidFill>
                  <a:srgbClr val="20202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203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908740" y="4238585"/>
            <a:ext cx="314952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20202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countries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020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represented in the coffee chain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33651" y="2405448"/>
            <a:ext cx="3657509" cy="3484176"/>
          </a:xfrm>
          <a:custGeom>
            <a:avLst/>
            <a:gdLst/>
            <a:ahLst/>
            <a:cxnLst/>
            <a:rect l="l" t="t" r="r" b="b"/>
            <a:pathLst>
              <a:path w="3657509" h="4411464">
                <a:moveTo>
                  <a:pt x="0" y="0"/>
                </a:moveTo>
                <a:lnTo>
                  <a:pt x="3586390" y="0"/>
                </a:lnTo>
                <a:arcTo wR="71118" hR="71120" stAng="16200000" swAng="5400000"/>
                <a:lnTo>
                  <a:pt x="3657509" y="4340344"/>
                </a:lnTo>
                <a:arcTo wR="71118" hR="71120" stAng="0" swAng="5400000"/>
                <a:lnTo>
                  <a:pt x="0" y="4411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41639" y="3230721"/>
            <a:ext cx="3149521" cy="804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7200" kern="0" spc="72" dirty="0">
                <a:solidFill>
                  <a:srgbClr val="20202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41,179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8141639" y="4238585"/>
            <a:ext cx="314952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20202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official values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020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8,082 production rows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020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33,097 trade rows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9072" y="5943170"/>
            <a:ext cx="10651519" cy="18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50" dirty="0">
                <a:solidFill>
                  <a:schemeClr val="bg1">
                    <a:lumMod val="65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SOURCE: FAOSTAT ANALYTICAL DATA.</a:t>
            </a:r>
            <a:endParaRPr lang="en-US" sz="125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882A1BC-5308-6D87-F2E4-F5ABA53A0570}"/>
              </a:ext>
            </a:extLst>
          </p:cNvPr>
          <p:cNvCxnSpPr>
            <a:cxnSpLocks/>
          </p:cNvCxnSpPr>
          <p:nvPr/>
        </p:nvCxnSpPr>
        <p:spPr>
          <a:xfrm>
            <a:off x="3158080" y="2405449"/>
            <a:ext cx="0" cy="3484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3E9D21-837C-EE4C-12F6-FB31C7E40601}"/>
              </a:ext>
            </a:extLst>
          </p:cNvPr>
          <p:cNvCxnSpPr>
            <a:cxnSpLocks/>
          </p:cNvCxnSpPr>
          <p:nvPr/>
        </p:nvCxnSpPr>
        <p:spPr>
          <a:xfrm>
            <a:off x="7633651" y="2405449"/>
            <a:ext cx="0" cy="34940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06C2171-39BE-389A-4472-1C41E4D72E46}"/>
              </a:ext>
            </a:extLst>
          </p:cNvPr>
          <p:cNvSpPr txBox="1"/>
          <p:nvPr/>
        </p:nvSpPr>
        <p:spPr>
          <a:xfrm>
            <a:off x="0" y="6617362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EDA &amp; SQL PROJECT PRESENTATION by RIZKI FIRDAUS</a:t>
            </a:r>
            <a:endParaRPr lang="en-US" sz="9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9F53A0-0D18-6DDE-484A-E2B96E5FD7CB}"/>
              </a:ext>
            </a:extLst>
          </p:cNvPr>
          <p:cNvSpPr txBox="1"/>
          <p:nvPr/>
        </p:nvSpPr>
        <p:spPr>
          <a:xfrm rot="16200000">
            <a:off x="-3291204" y="3313584"/>
            <a:ext cx="68580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IRONHACK | WEEK 3 | PROJECT 1</a:t>
            </a:r>
            <a:endParaRPr lang="en-US" sz="9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6BC385-605E-AF78-D02A-7273F3801F69}"/>
              </a:ext>
            </a:extLst>
          </p:cNvPr>
          <p:cNvSpPr txBox="1"/>
          <p:nvPr/>
        </p:nvSpPr>
        <p:spPr>
          <a:xfrm>
            <a:off x="0" y="20750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- COFFEE LAND VS PRICE -</a:t>
            </a:r>
            <a:endParaRPr lang="en-US" sz="9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D73245-D46A-C29A-0000-F50E2CA0CA39}"/>
              </a:ext>
            </a:extLst>
          </p:cNvPr>
          <p:cNvSpPr txBox="1"/>
          <p:nvPr/>
        </p:nvSpPr>
        <p:spPr>
          <a:xfrm rot="5400000">
            <a:off x="8626826" y="3313584"/>
            <a:ext cx="68580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2 OCTOBER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2">
            <a:extLst>
              <a:ext uri="{FF2B5EF4-FFF2-40B4-BE49-F238E27FC236}">
                <a16:creationId xmlns:a16="http://schemas.microsoft.com/office/drawing/2014/main" id="{C0B9C4CF-22DF-DFFE-C5D0-07E0C1DA0CD8}"/>
              </a:ext>
            </a:extLst>
          </p:cNvPr>
          <p:cNvSpPr/>
          <p:nvPr/>
        </p:nvSpPr>
        <p:spPr>
          <a:xfrm>
            <a:off x="609585" y="2360471"/>
            <a:ext cx="3567671" cy="3187453"/>
          </a:xfrm>
          <a:custGeom>
            <a:avLst/>
            <a:gdLst/>
            <a:ahLst/>
            <a:cxnLst/>
            <a:rect l="l" t="t" r="r" b="b"/>
            <a:pathLst>
              <a:path w="3657509" h="4411464">
                <a:moveTo>
                  <a:pt x="71118" y="0"/>
                </a:moveTo>
                <a:lnTo>
                  <a:pt x="3657509" y="0"/>
                </a:lnTo>
                <a:lnTo>
                  <a:pt x="3657509" y="4411464"/>
                </a:lnTo>
                <a:lnTo>
                  <a:pt x="71118" y="4411464"/>
                </a:lnTo>
                <a:arcTo wR="71118" hR="71120" stAng="5400000" swAng="5400000"/>
                <a:lnTo>
                  <a:pt x="0" y="71120"/>
                </a:lnTo>
                <a:arcTo wR="71118" hR="71120" stAng="10800000" swAng="5400000"/>
                <a:close/>
              </a:path>
            </a:pathLst>
          </a:custGeom>
          <a:solidFill>
            <a:srgbClr val="FAF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09585" y="1463100"/>
            <a:ext cx="1089559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48" dirty="0">
                <a:solidFill>
                  <a:srgbClr val="111111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SOURCE DOWNLOAD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828210"/>
            <a:ext cx="10972526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dirty="0">
                <a:solidFill>
                  <a:srgbClr val="111111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DATA QUALITY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87847" y="2360472"/>
            <a:ext cx="3844045" cy="3187452"/>
          </a:xfrm>
          <a:custGeom>
            <a:avLst/>
            <a:gdLst/>
            <a:ahLst/>
            <a:cxnLst/>
            <a:rect l="l" t="t" r="r" b="b"/>
            <a:pathLst>
              <a:path w="3657509" h="4358779">
                <a:moveTo>
                  <a:pt x="71118" y="0"/>
                </a:moveTo>
                <a:lnTo>
                  <a:pt x="3657509" y="0"/>
                </a:lnTo>
                <a:lnTo>
                  <a:pt x="3657509" y="4358779"/>
                </a:lnTo>
                <a:lnTo>
                  <a:pt x="71118" y="4358779"/>
                </a:lnTo>
                <a:arcTo wR="71118" hR="71120" stAng="5400000" swAng="5400000"/>
                <a:lnTo>
                  <a:pt x="0" y="71120"/>
                </a:lnTo>
                <a:arcTo wR="71118" hR="71120" stAng="10800000" swAng="5400000"/>
                <a:close/>
              </a:path>
            </a:pathLst>
          </a:custGeom>
          <a:solidFill>
            <a:srgbClr val="FAF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464108" y="2596451"/>
            <a:ext cx="659788" cy="316805"/>
          </a:xfrm>
          <a:prstGeom prst="roundRect">
            <a:avLst>
              <a:gd name="adj" fmla="val 21551"/>
            </a:avLst>
          </a:prstGeom>
          <a:noFill/>
          <a:ln w="3175">
            <a:solidFill>
              <a:srgbClr val="C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85945" y="2657371"/>
            <a:ext cx="455612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51" dirty="0">
                <a:solidFill>
                  <a:srgbClr val="C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KEEP</a:t>
            </a:r>
            <a:endParaRPr lang="en-US" sz="1300" dirty="0">
              <a:solidFill>
                <a:srgbClr val="C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464108" y="2995806"/>
            <a:ext cx="309872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0202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Officially verified values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464108" y="3781817"/>
            <a:ext cx="309872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020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Inputs that remain comparable across the analysis.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599" y="2597602"/>
            <a:ext cx="867845" cy="316805"/>
          </a:xfrm>
          <a:prstGeom prst="roundRect">
            <a:avLst>
              <a:gd name="adj" fmla="val 21551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8437" y="2658522"/>
            <a:ext cx="1233754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51" dirty="0">
                <a:solidFill>
                  <a:schemeClr val="tx1">
                    <a:lumMod val="50000"/>
                    <a:lumOff val="5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IGNORE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6599" y="2996957"/>
            <a:ext cx="309872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0202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Estimated or unverified values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06599" y="3782968"/>
            <a:ext cx="309872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020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Inputs that do not meet the verification rule.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47672" y="2360472"/>
            <a:ext cx="3657509" cy="3187452"/>
          </a:xfrm>
          <a:custGeom>
            <a:avLst/>
            <a:gdLst/>
            <a:ahLst/>
            <a:cxnLst/>
            <a:rect l="l" t="t" r="r" b="b"/>
            <a:pathLst>
              <a:path w="3657509" h="4358779">
                <a:moveTo>
                  <a:pt x="0" y="0"/>
                </a:moveTo>
                <a:lnTo>
                  <a:pt x="3586390" y="0"/>
                </a:lnTo>
                <a:arcTo wR="71118" hR="71120" stAng="16200000" swAng="5400000"/>
                <a:lnTo>
                  <a:pt x="3657509" y="4287659"/>
                </a:lnTo>
                <a:arcTo wR="71118" hR="71120" stAng="0" swAng="5400000"/>
                <a:lnTo>
                  <a:pt x="0" y="4358779"/>
                </a:lnTo>
                <a:lnTo>
                  <a:pt x="0" y="0"/>
                </a:lnTo>
                <a:close/>
              </a:path>
            </a:pathLst>
          </a:custGeom>
          <a:solidFill>
            <a:srgbClr val="7B2F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21617" y="2596451"/>
            <a:ext cx="871424" cy="316805"/>
          </a:xfrm>
          <a:prstGeom prst="roundRect">
            <a:avLst>
              <a:gd name="adj" fmla="val 21551"/>
            </a:avLst>
          </a:prstGeom>
          <a:noFill/>
          <a:ln w="12700">
            <a:solidFill>
              <a:srgbClr val="FFFF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43454" y="2657371"/>
            <a:ext cx="102569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51" dirty="0">
                <a:solidFill>
                  <a:srgbClr val="FFFF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RESULT</a:t>
            </a:r>
            <a:endParaRPr lang="en-US" sz="1300" dirty="0">
              <a:solidFill>
                <a:srgbClr val="FFFF0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121617" y="2995806"/>
            <a:ext cx="309872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Processed dataset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121617" y="3781817"/>
            <a:ext cx="309872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Two usable data records inputs remained after filtering.</a:t>
            </a:r>
            <a:endParaRPr lang="en-US" sz="16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8E18EC-A363-3590-0C67-64ED7F682061}"/>
              </a:ext>
            </a:extLst>
          </p:cNvPr>
          <p:cNvCxnSpPr>
            <a:cxnSpLocks/>
          </p:cNvCxnSpPr>
          <p:nvPr/>
        </p:nvCxnSpPr>
        <p:spPr>
          <a:xfrm flipH="1">
            <a:off x="4179572" y="2360472"/>
            <a:ext cx="6709" cy="31874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158AA5-DD35-98ED-E020-9A632EC9D270}"/>
              </a:ext>
            </a:extLst>
          </p:cNvPr>
          <p:cNvCxnSpPr>
            <a:cxnSpLocks/>
          </p:cNvCxnSpPr>
          <p:nvPr/>
        </p:nvCxnSpPr>
        <p:spPr>
          <a:xfrm>
            <a:off x="7845356" y="2360472"/>
            <a:ext cx="0" cy="31874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678E8B5-58DD-A3AB-F744-D7E8E832F426}"/>
              </a:ext>
            </a:extLst>
          </p:cNvPr>
          <p:cNvSpPr/>
          <p:nvPr/>
        </p:nvSpPr>
        <p:spPr>
          <a:xfrm>
            <a:off x="0" y="6415469"/>
            <a:ext cx="12192000" cy="4425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C907A9-2897-5A50-4AE6-31FC841C91BB}"/>
              </a:ext>
            </a:extLst>
          </p:cNvPr>
          <p:cNvSpPr txBox="1"/>
          <p:nvPr/>
        </p:nvSpPr>
        <p:spPr>
          <a:xfrm>
            <a:off x="0" y="6617362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EDA &amp; SQL PROJECT PRESENTATION by RIZKI FIRDAUS</a:t>
            </a:r>
            <a:endParaRPr lang="en-US" sz="9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2B92BA-3E82-A1D0-D806-15FE92EC9F65}"/>
              </a:ext>
            </a:extLst>
          </p:cNvPr>
          <p:cNvSpPr txBox="1"/>
          <p:nvPr/>
        </p:nvSpPr>
        <p:spPr>
          <a:xfrm rot="16200000">
            <a:off x="-3291204" y="3313584"/>
            <a:ext cx="68580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IRONHACK | WEEK 3 | PROJECT 1</a:t>
            </a:r>
            <a:endParaRPr lang="en-US" sz="9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CB2259-3388-FE48-70E4-980D83E73A06}"/>
              </a:ext>
            </a:extLst>
          </p:cNvPr>
          <p:cNvSpPr txBox="1"/>
          <p:nvPr/>
        </p:nvSpPr>
        <p:spPr>
          <a:xfrm>
            <a:off x="0" y="20750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- COFFEE LAND VS PRICE -</a:t>
            </a:r>
            <a:endParaRPr lang="en-US" sz="9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6948CC-0DE7-9EB5-9DA2-69CE67650566}"/>
              </a:ext>
            </a:extLst>
          </p:cNvPr>
          <p:cNvSpPr txBox="1"/>
          <p:nvPr/>
        </p:nvSpPr>
        <p:spPr>
          <a:xfrm rot="5400000">
            <a:off x="8626826" y="3313584"/>
            <a:ext cx="68580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2 OCTOBER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-305" y="0"/>
            <a:ext cx="12192000" cy="6858000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377" y="1668520"/>
            <a:ext cx="490977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48" dirty="0">
                <a:solidFill>
                  <a:srgbClr val="20202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377" y="1949111"/>
            <a:ext cx="5181623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00" dirty="0">
                <a:solidFill>
                  <a:srgbClr val="20202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HOW THE COFFEE DATA CONNECTS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607" y="2643502"/>
            <a:ext cx="5283068" cy="2075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2020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Reference tables hold countries, measurements, and data-quality flags.</a:t>
            </a:r>
            <a:endParaRPr lang="en-US" sz="1600" dirty="0"/>
          </a:p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2020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Record tables hold production and import/export price observations.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020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Linked keys connect each observation to its country, year, measurement, and source.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4005"/>
          <a:stretch>
            <a:fillRect/>
          </a:stretch>
        </p:blipFill>
        <p:spPr>
          <a:xfrm>
            <a:off x="6545325" y="2043702"/>
            <a:ext cx="4940176" cy="31968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97445" y="5187708"/>
            <a:ext cx="568945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kern="0" spc="50" dirty="0">
                <a:solidFill>
                  <a:schemeClr val="bg1">
                    <a:lumMod val="65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ENTITY RELATIONAL DIAGRAM (ERD)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00" kern="0" spc="50" dirty="0">
                <a:solidFill>
                  <a:schemeClr val="bg1">
                    <a:lumMod val="65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SOURCE: SUPPLIED POWERPOINT CONTENT</a:t>
            </a:r>
            <a:endParaRPr 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C8A529-9827-DF22-2D59-153FFDF62814}"/>
              </a:ext>
            </a:extLst>
          </p:cNvPr>
          <p:cNvCxnSpPr>
            <a:cxnSpLocks/>
          </p:cNvCxnSpPr>
          <p:nvPr/>
        </p:nvCxnSpPr>
        <p:spPr>
          <a:xfrm>
            <a:off x="6304934" y="1186249"/>
            <a:ext cx="0" cy="452214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5698675-C8B8-8EDE-744B-DA26337C2A73}"/>
              </a:ext>
            </a:extLst>
          </p:cNvPr>
          <p:cNvSpPr txBox="1"/>
          <p:nvPr/>
        </p:nvSpPr>
        <p:spPr>
          <a:xfrm>
            <a:off x="0" y="6617362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EDA &amp; SQL PROJECT PRESENTATION by RIZKI FIRDAUS</a:t>
            </a:r>
            <a:endParaRPr lang="en-US" sz="9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2BC999-591A-6D26-CE1B-A0ABC2F95562}"/>
              </a:ext>
            </a:extLst>
          </p:cNvPr>
          <p:cNvSpPr txBox="1"/>
          <p:nvPr/>
        </p:nvSpPr>
        <p:spPr>
          <a:xfrm rot="16200000">
            <a:off x="-3291204" y="3313584"/>
            <a:ext cx="68580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IRONHACK | WEEK 3 | PROJECT 1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8C1B26-3CF0-AB6E-EC14-0E5563024245}"/>
              </a:ext>
            </a:extLst>
          </p:cNvPr>
          <p:cNvSpPr txBox="1"/>
          <p:nvPr/>
        </p:nvSpPr>
        <p:spPr>
          <a:xfrm>
            <a:off x="0" y="20750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- COFFEE LAND VS PRICE -</a:t>
            </a:r>
            <a:endParaRPr lang="en-US" sz="9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F80828-03B3-8D2B-75C8-EBF3EB06A9CA}"/>
              </a:ext>
            </a:extLst>
          </p:cNvPr>
          <p:cNvSpPr txBox="1"/>
          <p:nvPr/>
        </p:nvSpPr>
        <p:spPr>
          <a:xfrm rot="5400000">
            <a:off x="8626826" y="3313584"/>
            <a:ext cx="68580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2 OCTOBER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>
            <a:extLst>
              <a:ext uri="{FF2B5EF4-FFF2-40B4-BE49-F238E27FC236}">
                <a16:creationId xmlns:a16="http://schemas.microsoft.com/office/drawing/2014/main" id="{89242359-B6A8-ACC5-6BEE-980A791F727E}"/>
              </a:ext>
            </a:extLst>
          </p:cNvPr>
          <p:cNvSpPr/>
          <p:nvPr/>
        </p:nvSpPr>
        <p:spPr>
          <a:xfrm>
            <a:off x="0" y="-8092"/>
            <a:ext cx="12192000" cy="6858000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464344"/>
            <a:ext cx="12191999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FINDINGS</a:t>
            </a:r>
            <a:endParaRPr lang="en-US" sz="4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178" t="5487"/>
          <a:stretch>
            <a:fillRect/>
          </a:stretch>
        </p:blipFill>
        <p:spPr>
          <a:xfrm>
            <a:off x="65925" y="1355813"/>
            <a:ext cx="3734401" cy="2301641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65" t="5568"/>
          <a:stretch>
            <a:fillRect/>
          </a:stretch>
        </p:blipFill>
        <p:spPr>
          <a:xfrm>
            <a:off x="4614889" y="1355813"/>
            <a:ext cx="3195380" cy="2332806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31" t="4950"/>
          <a:stretch>
            <a:fillRect/>
          </a:stretch>
        </p:blipFill>
        <p:spPr>
          <a:xfrm>
            <a:off x="3865246" y="4169585"/>
            <a:ext cx="4046934" cy="237900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5B3117E-32F5-A8E8-B067-DCDD2ECDEFE8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393"/>
          <a:stretch>
            <a:fillRect/>
          </a:stretch>
        </p:blipFill>
        <p:spPr>
          <a:xfrm>
            <a:off x="7977101" y="2274302"/>
            <a:ext cx="4172810" cy="282863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A17F253-4987-D692-958A-E5062405C8F1}"/>
              </a:ext>
            </a:extLst>
          </p:cNvPr>
          <p:cNvSpPr txBox="1"/>
          <p:nvPr/>
        </p:nvSpPr>
        <p:spPr>
          <a:xfrm>
            <a:off x="5084576" y="1117297"/>
            <a:ext cx="2688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Top 10 coffee exporters, 2024 (</a:t>
            </a:r>
            <a:r>
              <a:rPr lang="en-US" sz="1200" dirty="0" err="1"/>
              <a:t>tonnes</a:t>
            </a:r>
            <a:r>
              <a:rPr lang="en-US" sz="1200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0B841F-88FD-71B3-0165-09C472BBD777}"/>
              </a:ext>
            </a:extLst>
          </p:cNvPr>
          <p:cNvSpPr txBox="1"/>
          <p:nvPr/>
        </p:nvSpPr>
        <p:spPr>
          <a:xfrm>
            <a:off x="5084576" y="3928680"/>
            <a:ext cx="2688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Top 10 coffee importers, 2024 (</a:t>
            </a:r>
            <a:r>
              <a:rPr lang="en-US" sz="1200" dirty="0" err="1"/>
              <a:t>tonnes</a:t>
            </a:r>
            <a:r>
              <a:rPr lang="en-US" sz="1200" dirty="0"/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89016F-0E07-548B-E925-9FB915C637E5}"/>
              </a:ext>
            </a:extLst>
          </p:cNvPr>
          <p:cNvSpPr txBox="1"/>
          <p:nvPr/>
        </p:nvSpPr>
        <p:spPr>
          <a:xfrm>
            <a:off x="1150422" y="1114908"/>
            <a:ext cx="2688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Top 10 coffee producers, 2024 (</a:t>
            </a:r>
            <a:r>
              <a:rPr lang="en-US" sz="1200" dirty="0" err="1"/>
              <a:t>tonnes</a:t>
            </a:r>
            <a:r>
              <a:rPr lang="en-US" sz="1200" dirty="0"/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F548C0-455B-7DEF-DA90-D380E0AE17F6}"/>
              </a:ext>
            </a:extLst>
          </p:cNvPr>
          <p:cNvSpPr txBox="1"/>
          <p:nvPr/>
        </p:nvSpPr>
        <p:spPr>
          <a:xfrm>
            <a:off x="8761449" y="1903009"/>
            <a:ext cx="2688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Yield vs export price, 2024 (</a:t>
            </a:r>
            <a:r>
              <a:rPr lang="en-US" sz="1200" dirty="0" err="1"/>
              <a:t>tonnes</a:t>
            </a:r>
            <a:r>
              <a:rPr lang="en-US" sz="1200" dirty="0"/>
              <a:t>)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4D96DF7-3744-FEB5-E5F8-E527518110E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014"/>
          <a:stretch>
            <a:fillRect/>
          </a:stretch>
        </p:blipFill>
        <p:spPr>
          <a:xfrm>
            <a:off x="65925" y="4208267"/>
            <a:ext cx="3734400" cy="230164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2851FF6-8107-1C4F-B346-551866997A78}"/>
              </a:ext>
            </a:extLst>
          </p:cNvPr>
          <p:cNvSpPr txBox="1"/>
          <p:nvPr/>
        </p:nvSpPr>
        <p:spPr>
          <a:xfrm>
            <a:off x="262759" y="3928679"/>
            <a:ext cx="37417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Top 10 processed-green beans volume  , 2024 (</a:t>
            </a:r>
            <a:r>
              <a:rPr lang="en-US" sz="1200" dirty="0" err="1"/>
              <a:t>tonnes</a:t>
            </a:r>
            <a:r>
              <a:rPr lang="en-US" sz="1200" dirty="0"/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3E16B4-A0F3-1C6B-31C6-848ED6083F9F}"/>
              </a:ext>
            </a:extLst>
          </p:cNvPr>
          <p:cNvSpPr txBox="1"/>
          <p:nvPr/>
        </p:nvSpPr>
        <p:spPr>
          <a:xfrm>
            <a:off x="0" y="20750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- COFFEE LAND VS PRICE -</a:t>
            </a:r>
            <a:endParaRPr lang="en-US" sz="9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08F582-E184-B6C2-E913-998117339970}"/>
              </a:ext>
            </a:extLst>
          </p:cNvPr>
          <p:cNvSpPr txBox="1"/>
          <p:nvPr/>
        </p:nvSpPr>
        <p:spPr>
          <a:xfrm>
            <a:off x="0" y="6633454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IRONHACK | WEEK 3 | PROJECT 1 | EDA &amp; SQL PROJECT PRESENTATION by RIZKI FIRDAUS | FRIDAY, 2 OCTOBER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>
            <a:extLst>
              <a:ext uri="{FF2B5EF4-FFF2-40B4-BE49-F238E27FC236}">
                <a16:creationId xmlns:a16="http://schemas.microsoft.com/office/drawing/2014/main" id="{9BBE7B19-2E7A-B600-A471-877D2650F8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24075" y="500575"/>
            <a:ext cx="3400107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CONCLUSIONS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94551" y="1472601"/>
            <a:ext cx="5367725" cy="357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Do more land or higher yield mean a lower export price?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" y="1851371"/>
            <a:ext cx="5562362" cy="1346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Weakly supported.</a:t>
            </a: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Larger, higher-yield producers tend to sell a little cheaper, but the relationship is weak and inconsistent across all 18 countries.</a:t>
            </a:r>
            <a:endParaRPr lang="en-US" sz="1100" dirty="0"/>
          </a:p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Area correlation: </a:t>
            </a:r>
            <a:r>
              <a:rPr lang="en-US" sz="11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−0.16</a:t>
            </a: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· Yield correlation: </a:t>
            </a:r>
            <a:r>
              <a:rPr lang="en-US" sz="11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−0.26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Viet Nam: highest yield </a:t>
            </a:r>
            <a:r>
              <a:rPr lang="en-US" sz="11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2,536 kg/ha</a:t>
            </a: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, cheapest price </a:t>
            </a:r>
            <a:r>
              <a:rPr lang="en-US" sz="11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$1.83/kg</a:t>
            </a: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. Kenya: lowest yield </a:t>
            </a:r>
            <a:r>
              <a:rPr lang="en-US" sz="11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376 kg/ha</a:t>
            </a: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, highest price </a:t>
            </a:r>
            <a:r>
              <a:rPr lang="en-US" sz="11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$5.21/kg</a:t>
            </a: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4551" y="4219656"/>
            <a:ext cx="5340742" cy="33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Do importers pay more per kg than exporters receive?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4075" y="4638428"/>
            <a:ext cx="5443964" cy="11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Partly supported.</a:t>
            </a: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Importers paid more in </a:t>
            </a:r>
            <a:r>
              <a:rPr lang="en-US" sz="11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54 of 64 years (84%)</a:t>
            </a: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, but the gap did not grow.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gap peaked around 1990 at </a:t>
            </a:r>
            <a:r>
              <a:rPr lang="en-US" sz="11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+27%</a:t>
            </a: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and nearly disappeared by 2024 at </a:t>
            </a:r>
            <a:r>
              <a:rPr lang="en-US" sz="11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−0.5%</a:t>
            </a: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.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100" dirty="0">
              <a:solidFill>
                <a:srgbClr val="000000"/>
              </a:solidFill>
              <a:latin typeface="Schibsted Grotesk" pitchFamily="34" charset="0"/>
              <a:cs typeface="Schibsted Grotesk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cs typeface="Schibsted Grotesk" pitchFamily="34" charset="-120"/>
              </a:rPr>
              <a:t>• FAIR TRADE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cs typeface="Schibsted Grotesk" pitchFamily="34" charset="-120"/>
              </a:rPr>
              <a:t>• DIRECT TRADE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chibsted Grotesk" pitchFamily="34" charset="0"/>
                <a:cs typeface="Schibsted Grotesk" pitchFamily="34" charset="-120"/>
              </a:rPr>
              <a:t>• FARM TO TABLE</a:t>
            </a: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1" t="4033" r="621" b="2954"/>
          <a:stretch>
            <a:fillRect/>
          </a:stretch>
        </p:blipFill>
        <p:spPr>
          <a:xfrm>
            <a:off x="6070799" y="299431"/>
            <a:ext cx="5968906" cy="3361079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973"/>
          <a:stretch>
            <a:fillRect/>
          </a:stretch>
        </p:blipFill>
        <p:spPr>
          <a:xfrm>
            <a:off x="6130583" y="3948186"/>
            <a:ext cx="5849338" cy="268526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3E5A355-D875-A094-30CD-C057A54CEE46}"/>
              </a:ext>
            </a:extLst>
          </p:cNvPr>
          <p:cNvCxnSpPr>
            <a:cxnSpLocks/>
          </p:cNvCxnSpPr>
          <p:nvPr/>
        </p:nvCxnSpPr>
        <p:spPr>
          <a:xfrm flipH="1">
            <a:off x="304792" y="3795165"/>
            <a:ext cx="1178820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282EA31-4C21-3D79-DBE8-D4FCFEC717EC}"/>
              </a:ext>
            </a:extLst>
          </p:cNvPr>
          <p:cNvSpPr txBox="1"/>
          <p:nvPr/>
        </p:nvSpPr>
        <p:spPr>
          <a:xfrm>
            <a:off x="0" y="20750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- COFFEE LAND VS PRICE -</a:t>
            </a:r>
            <a:endParaRPr lang="en-US" sz="9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AE3E44-CFC7-1A63-B5B9-0ADFCED53A73}"/>
              </a:ext>
            </a:extLst>
          </p:cNvPr>
          <p:cNvSpPr txBox="1"/>
          <p:nvPr/>
        </p:nvSpPr>
        <p:spPr>
          <a:xfrm>
            <a:off x="0" y="6633454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IRONHACK | WEEK 3 | PROJECT 1 | EDA &amp; SQL PROJECT PRESENTATION by RIZKI FIRDAUS | FRIDAY, 2 OCTOBER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34AB8E9A-EABE-2B33-4A8B-165C09054B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6871236-8E0A-9E7E-586A-99FF3A1C9BED}"/>
              </a:ext>
            </a:extLst>
          </p:cNvPr>
          <p:cNvSpPr/>
          <p:nvPr/>
        </p:nvSpPr>
        <p:spPr>
          <a:xfrm>
            <a:off x="2060028" y="2893697"/>
            <a:ext cx="3415862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790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WHATS NEXT</a:t>
            </a:r>
            <a:endParaRPr lang="en-US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B6BE68-7D79-3404-39F0-58F561765974}"/>
              </a:ext>
            </a:extLst>
          </p:cNvPr>
          <p:cNvSpPr txBox="1"/>
          <p:nvPr/>
        </p:nvSpPr>
        <p:spPr>
          <a:xfrm>
            <a:off x="2060028" y="3670738"/>
            <a:ext cx="72941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 Arabica vs. robusta is not distinguished in the data.</a:t>
            </a:r>
          </a:p>
          <a:p>
            <a:endParaRPr lang="en-US" dirty="0"/>
          </a:p>
          <a:p>
            <a:pPr lvl="0"/>
            <a:r>
              <a:rPr lang="en-US" dirty="0"/>
              <a:t>• Build a tech-access index and re-run the yield–price test against the total yield of coffee farmers with ‘better tech’.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C80ACC-EEA5-A1ED-DC0E-F0BCD4E1C66F}"/>
              </a:ext>
            </a:extLst>
          </p:cNvPr>
          <p:cNvSpPr txBox="1"/>
          <p:nvPr/>
        </p:nvSpPr>
        <p:spPr>
          <a:xfrm>
            <a:off x="0" y="6617362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EDA &amp; SQL PROJECT PRESENTATION by RIZKI FIRDAUS</a:t>
            </a:r>
            <a:endParaRPr lang="en-US" sz="9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248937-619F-D4A1-E712-899E029C3267}"/>
              </a:ext>
            </a:extLst>
          </p:cNvPr>
          <p:cNvSpPr txBox="1"/>
          <p:nvPr/>
        </p:nvSpPr>
        <p:spPr>
          <a:xfrm rot="16200000">
            <a:off x="-3291204" y="3313584"/>
            <a:ext cx="68580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IRONHACK | WEEK 3 | PROJECT 1</a:t>
            </a:r>
            <a:endParaRPr 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46D1B1-CE6A-7633-2489-B4D39A269D41}"/>
              </a:ext>
            </a:extLst>
          </p:cNvPr>
          <p:cNvSpPr txBox="1"/>
          <p:nvPr/>
        </p:nvSpPr>
        <p:spPr>
          <a:xfrm>
            <a:off x="0" y="20750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- COFFEE LAND VS PRICE -</a:t>
            </a:r>
            <a:endParaRPr lang="en-US" sz="9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E8C9D1-FB29-1E12-50C0-95CC84F3030B}"/>
              </a:ext>
            </a:extLst>
          </p:cNvPr>
          <p:cNvSpPr txBox="1"/>
          <p:nvPr/>
        </p:nvSpPr>
        <p:spPr>
          <a:xfrm rot="5400000">
            <a:off x="8626826" y="3313584"/>
            <a:ext cx="68580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2 OCTOBER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80737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BB8F9F53-7FAD-866F-EE2C-579F70C941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8F1E294D-C61B-9416-78F5-75E03A11DE2E}"/>
              </a:ext>
            </a:extLst>
          </p:cNvPr>
          <p:cNvSpPr/>
          <p:nvPr/>
        </p:nvSpPr>
        <p:spPr>
          <a:xfrm>
            <a:off x="0" y="4629803"/>
            <a:ext cx="12192000" cy="312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kern="0" spc="50" dirty="0">
                <a:solidFill>
                  <a:schemeClr val="bg1">
                    <a:lumMod val="65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 H A N K  Y O U .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486776-E240-5698-272E-D52764F3D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544" y="5538502"/>
            <a:ext cx="556912" cy="6020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6D40BB-26BA-FB0A-E51B-4B2D847A8442}"/>
              </a:ext>
            </a:extLst>
          </p:cNvPr>
          <p:cNvSpPr txBox="1"/>
          <p:nvPr/>
        </p:nvSpPr>
        <p:spPr>
          <a:xfrm>
            <a:off x="0" y="6381207"/>
            <a:ext cx="12192000" cy="23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IRONHACK | WEEK 3 | PROJECT 1 | COFFEE LAND VS PRICE </a:t>
            </a:r>
            <a:r>
              <a:rPr lang="en-US" sz="900" dirty="0">
                <a:solidFill>
                  <a:schemeClr val="bg2">
                    <a:lumMod val="90000"/>
                  </a:schemeClr>
                </a:solidFill>
              </a:rPr>
              <a:t>| </a:t>
            </a:r>
            <a:r>
              <a:rPr lang="en-US" sz="900" kern="0" spc="50" dirty="0">
                <a:solidFill>
                  <a:schemeClr val="bg2">
                    <a:lumMod val="90000"/>
                  </a:schemeClr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EDA &amp; SQL PROJECT PRESENTATION by RIZKI FIRDAUS | FRIDAY, 2 OCTOBER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62081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772</Words>
  <Application>Microsoft Macintosh PowerPoint</Application>
  <PresentationFormat>Widescreen</PresentationFormat>
  <Paragraphs>102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Schibsted Grotesk Bold</vt:lpstr>
      <vt:lpstr>Big Shoulders ExtraBold</vt:lpstr>
      <vt:lpstr>Schibsted Grotesk</vt:lpstr>
      <vt:lpstr>Red Hat Mono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Rizki Firdaus</cp:lastModifiedBy>
  <cp:revision>7</cp:revision>
  <dcterms:created xsi:type="dcterms:W3CDTF">2026-10-01T13:33:43Z</dcterms:created>
  <dcterms:modified xsi:type="dcterms:W3CDTF">2026-10-02T07:14:01Z</dcterms:modified>
</cp:coreProperties>
</file>